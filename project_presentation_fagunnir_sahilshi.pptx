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rial Bold" charset="1" panose="020B0802020202020204"/>
      <p:regular r:id="rId26"/>
    </p:embeddedFont>
    <p:embeddedFont>
      <p:font typeface="Arial" charset="1" panose="020B0502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project aims to develop a Deep Learning based speech-language therapy system that helps individuals </a:t>
            </a:r>
          </a:p>
          <a:p>
            <a:r>
              <a:rPr lang="en-US"/>
              <a:t>with difficulty in speaking &amp; pronunciation improve through interactive and personalized feedback. </a:t>
            </a:r>
          </a:p>
          <a:p>
            <a:r>
              <a:rPr lang="en-US"/>
              <a:t>Inspired by platforms like Duolingo, the system leverages deep learning models to evaluate spoken input, </a:t>
            </a:r>
          </a:p>
          <a:p>
            <a:r>
              <a:rPr lang="en-US"/>
              <a:t>detect pronunciation errors, and offer real-time corrective feedback.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Build a deep learning model that can check how well a person says a word or sound. </a:t>
            </a:r>
          </a:p>
          <a:p>
            <a:r>
              <a:rPr lang="en-US"/>
              <a:t> Teach the model to know if a word was said correctly or incorrectly using features from the audio. </a:t>
            </a:r>
          </a:p>
          <a:p>
            <a:r>
              <a:rPr lang="en-US"/>
              <a:t> Give simple and helpful feedback to the user to improve their speaking. </a:t>
            </a:r>
          </a:p>
          <a:p>
            <a:r>
              <a:rPr lang="en-US"/>
              <a:t> Make the learning fun by adding points, rewards, and levels like a game. </a:t>
            </a:r>
          </a:p>
          <a:p>
            <a:r>
              <a:rPr lang="en-US"/>
              <a:t> Create a simple app that people can use on their phones to practice speaking anytime. </a:t>
            </a:r>
          </a:p>
          <a:p>
            <a:r>
              <a:rPr lang="en-US"/>
              <a:t> Plan to use a language model in the future to give friendly and encouraging messages to the user.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used the LibriSpeech train-clean-100 subset, which consists of approximately 100 hours of clean, read </a:t>
            </a:r>
          </a:p>
          <a:p>
            <a:r>
              <a:rPr lang="en-US"/>
              <a:t>English speech from 251 speakers. The dataset contains .flac audio files and corresponding .trans.txt </a:t>
            </a:r>
          </a:p>
          <a:p>
            <a:r>
              <a:rPr lang="en-US"/>
              <a:t>transcript files. Each audio sample is assumed to be correctly pronounced, making the dataset ideal for </a:t>
            </a:r>
          </a:p>
          <a:p>
            <a:r>
              <a:rPr lang="en-US"/>
              <a:t>modeling clear speech in an unsupervised manner. </a:t>
            </a:r>
          </a:p>
          <a:p>
            <a:r>
              <a:rPr lang="en-US"/>
              <a:t>Our goal is to detect deviations from clean speech since no labeled “incorrect” examples are introduced </a:t>
            </a:r>
          </a:p>
          <a:p>
            <a:r>
              <a:rPr lang="en-US"/>
              <a:t>in the dataset.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For this task, we utilized the SEP-28k Stuttering Events in Podcasts Dataset, augmented with data from </a:t>
            </a:r>
          </a:p>
          <a:p>
            <a:r>
              <a:rPr lang="en-US"/>
              <a:t>FluencyBank. This combined dataset provides a large and diverse collection of audio clips sourced from </a:t>
            </a:r>
          </a:p>
          <a:p>
            <a:r>
              <a:rPr lang="en-US"/>
              <a:t>real-world podcasts featuring people who stutter. </a:t>
            </a:r>
          </a:p>
          <a:p>
            <a:r>
              <a:rPr lang="en-US"/>
              <a:t> Total Data: The dataset contains metadata for approximately 32,000 3-second audio clips. After </a:t>
            </a:r>
          </a:p>
          <a:p>
            <a:r>
              <a:rPr lang="en-US"/>
              <a:t>cleaning and removing files with poor audio quality, music, or no speech, we obtained a working </a:t>
            </a:r>
          </a:p>
          <a:p>
            <a:r>
              <a:rPr lang="en-US"/>
              <a:t>set of 26,098 usable audio clips. </a:t>
            </a:r>
          </a:p>
          <a:p>
            <a:r>
              <a:rPr lang="en-US"/>
              <a:t> Data Format: The data is provided as a set of .wav audio files and corresponding CSV files </a:t>
            </a:r>
          </a:p>
          <a:p>
            <a:r>
              <a:rPr lang="en-US"/>
              <a:t>containing metadata and labels. </a:t>
            </a:r>
          </a:p>
          <a:p>
            <a:r>
              <a:rPr lang="en-US"/>
              <a:t> Labels and Classes: Each clip is annotated by multiple raters for the presence of specific </a:t>
            </a:r>
          </a:p>
          <a:p>
            <a:r>
              <a:rPr lang="en-US"/>
              <a:t>disfluencies. For our multi-class classification task, we identified six primary classes: </a:t>
            </a:r>
          </a:p>
          <a:p>
            <a:r>
              <a:rPr lang="en-US"/>
              <a:t>o Block: Abrupt pauses or inability to produce sound. </a:t>
            </a:r>
          </a:p>
          <a:p>
            <a:r>
              <a:rPr lang="en-US"/>
              <a:t>o Prolongation: Elongation of a sound or syllable. </a:t>
            </a:r>
          </a:p>
          <a:p>
            <a:r>
              <a:rPr lang="en-US"/>
              <a:t>o SoundRep: Repetition of a single sound (e.g., "p-p-p-prepare"). </a:t>
            </a:r>
          </a:p>
          <a:p>
            <a:r>
              <a:rPr lang="en-US"/>
              <a:t>o WordRep: Repetition of a whole word or phrase. </a:t>
            </a:r>
          </a:p>
          <a:p>
            <a:r>
              <a:rPr lang="en-US"/>
              <a:t>o Interjection: Use of filler words like "um" or "uh". </a:t>
            </a:r>
          </a:p>
          <a:p>
            <a:r>
              <a:rPr lang="en-US"/>
              <a:t>o NoStutteredWords: Fluent speech with no disfluencies.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entire pipeline was developed in a Google Colab environment. </a:t>
            </a:r>
          </a:p>
          <a:p>
            <a:r>
              <a:rPr lang="en-US"/>
              <a:t> Data Acquisition: The dataset was downloaded directly into the notebook environment using the </a:t>
            </a:r>
          </a:p>
          <a:p>
            <a:r>
              <a:rPr lang="en-US"/>
              <a:t>Kaggle API. This method is efficient and reproducible, avoiding manual uploads. </a:t>
            </a:r>
          </a:p>
          <a:p>
            <a:r>
              <a:rPr lang="en-US"/>
              <a:t> Data Cleaning: We combined the label files from SEP-28k and FluencyBank. We then </a:t>
            </a:r>
          </a:p>
          <a:p>
            <a:r>
              <a:rPr lang="en-US"/>
              <a:t>constructed the full file path for each audio clip by concatenating the Show, EpId, and ClipId fields </a:t>
            </a:r>
          </a:p>
          <a:p>
            <a:r>
              <a:rPr lang="en-US"/>
              <a:t>from the metadata. A crucial step was filtering out any entries for which the corresponding .wav </a:t>
            </a:r>
          </a:p>
          <a:p>
            <a:r>
              <a:rPr lang="en-US"/>
              <a:t>file did not exist on disk. Label Processing: The dataset provides counts from multiple annotators for each label. To create </a:t>
            </a:r>
          </a:p>
          <a:p>
            <a:r>
              <a:rPr lang="en-US"/>
              <a:t>a single ground-truth label for our multi-class problem, we selected the class with the highest </a:t>
            </a:r>
          </a:p>
          <a:p>
            <a:r>
              <a:rPr lang="en-US"/>
              <a:t>annotator count for each clip (idxmax function). </a:t>
            </a:r>
          </a:p>
          <a:p>
            <a:r>
              <a:rPr lang="en-US"/>
              <a:t> Handling Class Imbalance: A preliminary analysis revealed a significant class imbalance, with </a:t>
            </a:r>
          </a:p>
          <a:p>
            <a:r>
              <a:rPr lang="en-US"/>
              <a:t>NoStutteredWords being the dominant class. To address this, we implemented a weighted loss </a:t>
            </a:r>
          </a:p>
          <a:p>
            <a:r>
              <a:rPr lang="en-US"/>
              <a:t>function. The sklearn.utils.class_weight.compute_class_weight function was used to calculate </a:t>
            </a:r>
          </a:p>
          <a:p>
            <a:r>
              <a:rPr lang="en-US"/>
              <a:t>weights that give higher importance to minority classes (like Block and SoundRep) during training, </a:t>
            </a:r>
          </a:p>
          <a:p>
            <a:r>
              <a:rPr lang="en-US"/>
              <a:t>preventing the model from simply defaulting to the majority class.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Input: MFCC features [batch, 13, 128] (13 coefficients, 128 time frames)</a:t>
            </a:r>
          </a:p>
          <a:p>
            <a:r>
              <a:rPr lang="en-US"/>
              <a:t/>
            </a:r>
          </a:p>
          <a:p>
            <a:r>
              <a:rPr lang="en-US"/>
              <a:t>Encoder:</a:t>
            </a:r>
          </a:p>
          <a:p>
            <a:r>
              <a:rPr lang="en-US"/>
              <a:t>3 Conv1D layers: 13 → 64 → 32 → 16 channels</a:t>
            </a:r>
          </a:p>
          <a:p>
            <a:r>
              <a:rPr lang="en-US"/>
              <a:t/>
            </a:r>
          </a:p>
          <a:p>
            <a:r>
              <a:rPr lang="en-US"/>
              <a:t>Uses ReLU, BatchNorm, Dropout</a:t>
            </a:r>
          </a:p>
          <a:p>
            <a:r>
              <a:rPr lang="en-US"/>
              <a:t/>
            </a:r>
          </a:p>
          <a:p>
            <a:r>
              <a:rPr lang="en-US"/>
              <a:t>Decoder:</a:t>
            </a:r>
          </a:p>
          <a:p>
            <a:r>
              <a:rPr lang="en-US"/>
              <a:t>3 ConvTranspose1D layers: 16 → 32 → 64 → 13</a:t>
            </a:r>
          </a:p>
          <a:p>
            <a:r>
              <a:rPr lang="en-US"/>
              <a:t/>
            </a:r>
          </a:p>
          <a:p>
            <a:r>
              <a:rPr lang="en-US"/>
              <a:t>Reconstructs input shape</a:t>
            </a:r>
          </a:p>
          <a:p>
            <a:r>
              <a:rPr lang="en-US"/>
              <a:t>Temporal shape (128) preserved via padding=1</a:t>
            </a:r>
          </a:p>
          <a:p>
            <a:r>
              <a:rPr lang="en-US"/>
              <a:t/>
            </a:r>
          </a:p>
          <a:p>
            <a:r>
              <a:rPr lang="en-US"/>
              <a:t>Model Size:</a:t>
            </a:r>
          </a:p>
          <a:p>
            <a:r>
              <a:rPr lang="en-US"/>
              <a:t/>
            </a:r>
          </a:p>
          <a:p>
            <a:r>
              <a:rPr lang="en-US"/>
              <a:t>~20k trainable params</a:t>
            </a:r>
          </a:p>
          <a:p>
            <a:r>
              <a:rPr lang="en-US"/>
              <a:t>Total memory: ~0.71 MB</a:t>
            </a:r>
          </a:p>
          <a:p>
            <a:r>
              <a:rPr lang="en-US"/>
              <a:t>fast training &amp; real-time ready</a:t>
            </a:r>
          </a:p>
          <a:p>
            <a:r>
              <a:rPr lang="en-US"/>
              <a:t>Compact and efficient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2.png" Type="http://schemas.openxmlformats.org/officeDocument/2006/relationships/image"/><Relationship Id="rId5" Target="https://www.kaggle.com/datasets/ikrbasak/sep-28k/code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2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552" y="1364439"/>
            <a:ext cx="11921781" cy="2454591"/>
            <a:chOff x="0" y="0"/>
            <a:chExt cx="15895708" cy="32727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95709" cy="3272788"/>
            </a:xfrm>
            <a:custGeom>
              <a:avLst/>
              <a:gdLst/>
              <a:ahLst/>
              <a:cxnLst/>
              <a:rect r="r" b="b" t="t" l="l"/>
              <a:pathLst>
                <a:path h="3272788" w="15895709">
                  <a:moveTo>
                    <a:pt x="0" y="0"/>
                  </a:moveTo>
                  <a:lnTo>
                    <a:pt x="15895709" y="0"/>
                  </a:lnTo>
                  <a:lnTo>
                    <a:pt x="15895709" y="3272788"/>
                  </a:lnTo>
                  <a:lnTo>
                    <a:pt x="0" y="32727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5895708" cy="326326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833"/>
                </a:lnSpc>
              </a:pPr>
              <a:r>
                <a:rPr lang="en-US" sz="5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</a:t>
              </a:r>
              <a:r>
                <a:rPr lang="en-US" sz="5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epSpeech Therapy: A Hierarchical Deep Learning Framework for Real-Time Speech Therapy Assessment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7552" y="5205727"/>
            <a:ext cx="9985251" cy="2377326"/>
            <a:chOff x="0" y="0"/>
            <a:chExt cx="13313669" cy="31697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13670" cy="3169767"/>
            </a:xfrm>
            <a:custGeom>
              <a:avLst/>
              <a:gdLst/>
              <a:ahLst/>
              <a:cxnLst/>
              <a:rect r="r" b="b" t="t" l="l"/>
              <a:pathLst>
                <a:path h="3169767" w="13313670">
                  <a:moveTo>
                    <a:pt x="0" y="0"/>
                  </a:moveTo>
                  <a:lnTo>
                    <a:pt x="13313670" y="0"/>
                  </a:lnTo>
                  <a:lnTo>
                    <a:pt x="13313670" y="3169767"/>
                  </a:lnTo>
                  <a:lnTo>
                    <a:pt x="0" y="31697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61925"/>
              <a:ext cx="13313669" cy="33316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677"/>
                </a:lnSpc>
              </a:pPr>
              <a:r>
                <a:rPr lang="en-US" sz="3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Presented by: </a:t>
              </a:r>
            </a:p>
            <a:p>
              <a:pPr algn="l">
                <a:lnSpc>
                  <a:spcPts val="4677"/>
                </a:lnSpc>
              </a:pPr>
              <a:r>
                <a:rPr lang="en-US" sz="3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Sahil Sawant | sahilshi</a:t>
              </a:r>
            </a:p>
            <a:p>
              <a:pPr algn="l">
                <a:lnSpc>
                  <a:spcPts val="4677"/>
                </a:lnSpc>
              </a:pPr>
              <a:r>
                <a:rPr lang="en-US" sz="3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Fagun Patel | fagunnir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8474450"/>
            <a:ext cx="9985251" cy="1567701"/>
            <a:chOff x="0" y="0"/>
            <a:chExt cx="13313669" cy="20902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13670" cy="2090268"/>
            </a:xfrm>
            <a:custGeom>
              <a:avLst/>
              <a:gdLst/>
              <a:ahLst/>
              <a:cxnLst/>
              <a:rect r="r" b="b" t="t" l="l"/>
              <a:pathLst>
                <a:path h="2090268" w="13313670">
                  <a:moveTo>
                    <a:pt x="0" y="0"/>
                  </a:moveTo>
                  <a:lnTo>
                    <a:pt x="13313670" y="0"/>
                  </a:lnTo>
                  <a:lnTo>
                    <a:pt x="13313670" y="2090268"/>
                  </a:lnTo>
                  <a:lnTo>
                    <a:pt x="0" y="2090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61925"/>
              <a:ext cx="13313669" cy="22521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677"/>
                </a:lnSpc>
              </a:pPr>
              <a:r>
                <a:rPr lang="en-US" sz="3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Instructor: Dr. Alina Vereschaka</a:t>
              </a:r>
            </a:p>
            <a:p>
              <a:pPr algn="l">
                <a:lnSpc>
                  <a:spcPts val="4677"/>
                </a:lnSpc>
              </a:pPr>
              <a:r>
                <a:rPr lang="en-US" sz="3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CSE 676 Deep Learning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1374787"/>
            <a:ext cx="15783409" cy="914972"/>
            <a:chOff x="0" y="0"/>
            <a:chExt cx="21044545" cy="12199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44545" cy="1219963"/>
            </a:xfrm>
            <a:custGeom>
              <a:avLst/>
              <a:gdLst/>
              <a:ahLst/>
              <a:cxnLst/>
              <a:rect r="r" b="b" t="t" l="l"/>
              <a:pathLst>
                <a:path h="1219963" w="21044545">
                  <a:moveTo>
                    <a:pt x="0" y="0"/>
                  </a:moveTo>
                  <a:lnTo>
                    <a:pt x="21044545" y="0"/>
                  </a:lnTo>
                  <a:lnTo>
                    <a:pt x="21044545" y="1219963"/>
                  </a:lnTo>
                  <a:lnTo>
                    <a:pt x="0" y="1219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44545" cy="125806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999" b="true">
                  <a:solidFill>
                    <a:srgbClr val="005B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33400" y="2565984"/>
            <a:ext cx="15783409" cy="529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2346" indent="-466173" lvl="1">
              <a:lnSpc>
                <a:spcPts val="5177"/>
              </a:lnSpc>
              <a:buFont typeface="Arial"/>
              <a:buChar char="•"/>
            </a:pPr>
            <a:r>
              <a:rPr lang="en-US" sz="431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en-US" sz="431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project aims to develop a Deep Learning based speech-language therapy system that helps individuals with difficulty in speaking &amp; pronunciation</a:t>
            </a:r>
          </a:p>
          <a:p>
            <a:pPr algn="l" marL="932346" indent="-466173" lvl="1">
              <a:lnSpc>
                <a:spcPts val="5177"/>
              </a:lnSpc>
              <a:buFont typeface="Arial"/>
              <a:buChar char="•"/>
            </a:pPr>
            <a:r>
              <a:rPr lang="en-US" sz="431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431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mprove users speech through interactive and personalized feedback.</a:t>
            </a:r>
          </a:p>
          <a:p>
            <a:pPr algn="l" marL="932346" indent="-466173" lvl="1">
              <a:lnSpc>
                <a:spcPts val="5180"/>
              </a:lnSpc>
              <a:buFont typeface="Arial"/>
              <a:buChar char="•"/>
            </a:pPr>
            <a:r>
              <a:rPr lang="en-US" sz="431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Inspired by platforms like Duolingo, the system leverages deep learning models to evaluate spoken input, detect pronunciation errors, and offer real-time corrective feedback.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1374787"/>
            <a:ext cx="15783409" cy="914972"/>
            <a:chOff x="0" y="0"/>
            <a:chExt cx="21044545" cy="12199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44545" cy="1219963"/>
            </a:xfrm>
            <a:custGeom>
              <a:avLst/>
              <a:gdLst/>
              <a:ahLst/>
              <a:cxnLst/>
              <a:rect r="r" b="b" t="t" l="l"/>
              <a:pathLst>
                <a:path h="1219963" w="21044545">
                  <a:moveTo>
                    <a:pt x="0" y="0"/>
                  </a:moveTo>
                  <a:lnTo>
                    <a:pt x="21044545" y="0"/>
                  </a:lnTo>
                  <a:lnTo>
                    <a:pt x="21044545" y="1219963"/>
                  </a:lnTo>
                  <a:lnTo>
                    <a:pt x="0" y="1219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44545" cy="125806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999" b="true">
                  <a:solidFill>
                    <a:srgbClr val="005B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Objectives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23875" y="2337384"/>
            <a:ext cx="15287458" cy="6250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1"/>
              </a:lnSpc>
            </a:pPr>
          </a:p>
          <a:p>
            <a:pPr algn="l" marL="979883" indent="-489941" lvl="1">
              <a:lnSpc>
                <a:spcPts val="5441"/>
              </a:lnSpc>
              <a:buFont typeface="Arial"/>
              <a:buChar char="•"/>
            </a:pPr>
            <a:r>
              <a:rPr lang="en-US" sz="453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453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evelop DL model to evaluate if a speech is clear or faulty.</a:t>
            </a:r>
          </a:p>
          <a:p>
            <a:pPr algn="l" marL="979883" indent="-489941" lvl="1">
              <a:lnSpc>
                <a:spcPts val="5441"/>
              </a:lnSpc>
              <a:buFont typeface="Arial"/>
              <a:buChar char="•"/>
            </a:pPr>
            <a:r>
              <a:rPr lang="en-US" sz="453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Classify clear vs. faulty speech using </a:t>
            </a:r>
            <a:r>
              <a:rPr lang="en-US" sz="453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reconstruction error.</a:t>
            </a:r>
          </a:p>
          <a:p>
            <a:pPr algn="l" marL="979883" indent="-489941" lvl="1">
              <a:lnSpc>
                <a:spcPts val="5441"/>
              </a:lnSpc>
              <a:buFont typeface="Arial"/>
              <a:buChar char="•"/>
            </a:pPr>
            <a:r>
              <a:rPr lang="en-US" sz="453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For faulty speeches, determine if its a stutter or not</a:t>
            </a:r>
          </a:p>
          <a:p>
            <a:pPr algn="l" marL="979883" indent="-489941" lvl="1">
              <a:lnSpc>
                <a:spcPts val="5441"/>
              </a:lnSpc>
              <a:buFont typeface="Arial"/>
              <a:buChar char="•"/>
            </a:pPr>
            <a:r>
              <a:rPr lang="en-US" sz="453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Provide simple, actionable feedback to the speaker to improve their speech.</a:t>
            </a:r>
          </a:p>
          <a:p>
            <a:pPr algn="l" marL="979883" indent="-489941" lvl="1">
              <a:lnSpc>
                <a:spcPts val="5441"/>
              </a:lnSpc>
              <a:buFont typeface="Arial"/>
              <a:buChar char="•"/>
            </a:pPr>
            <a:r>
              <a:rPr lang="en-US" sz="453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Integrate LLM‑based encouragement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7" id="7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498142"/>
            <a:ext cx="9957816" cy="3567112"/>
            <a:chOff x="0" y="0"/>
            <a:chExt cx="13277088" cy="4756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77089" cy="4756150"/>
            </a:xfrm>
            <a:custGeom>
              <a:avLst/>
              <a:gdLst/>
              <a:ahLst/>
              <a:cxnLst/>
              <a:rect r="r" b="b" t="t" l="l"/>
              <a:pathLst>
                <a:path h="4756150" w="13277089">
                  <a:moveTo>
                    <a:pt x="0" y="0"/>
                  </a:moveTo>
                  <a:lnTo>
                    <a:pt x="13277089" y="0"/>
                  </a:lnTo>
                  <a:lnTo>
                    <a:pt x="13277089" y="4756150"/>
                  </a:lnTo>
                  <a:lnTo>
                    <a:pt x="0" y="4756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13277088" cy="47371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7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Datasets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1801183"/>
            <a:ext cx="15783409" cy="735917"/>
            <a:chOff x="0" y="0"/>
            <a:chExt cx="21044545" cy="9812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44545" cy="981222"/>
            </a:xfrm>
            <a:custGeom>
              <a:avLst/>
              <a:gdLst/>
              <a:ahLst/>
              <a:cxnLst/>
              <a:rect r="r" b="b" t="t" l="l"/>
              <a:pathLst>
                <a:path h="981222" w="21044545">
                  <a:moveTo>
                    <a:pt x="0" y="0"/>
                  </a:moveTo>
                  <a:lnTo>
                    <a:pt x="21044545" y="0"/>
                  </a:lnTo>
                  <a:lnTo>
                    <a:pt x="21044545" y="981222"/>
                  </a:lnTo>
                  <a:lnTo>
                    <a:pt x="0" y="9812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44545" cy="101932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18"/>
                </a:lnSpc>
              </a:pPr>
              <a:r>
                <a:rPr lang="en-US" sz="3999" b="true">
                  <a:solidFill>
                    <a:srgbClr val="005B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LibriSpeech train clean 100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33400" y="2627427"/>
            <a:ext cx="15343537" cy="4105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358" indent="-361679" lvl="1">
              <a:lnSpc>
                <a:spcPts val="4017"/>
              </a:lnSpc>
              <a:buFont typeface="Arial"/>
              <a:buChar char="•"/>
            </a:pP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ed the LibriSpeech train-clean-100 subset</a:t>
            </a:r>
          </a:p>
          <a:p>
            <a:pPr algn="l" marL="723358" indent="-361679" lvl="1">
              <a:lnSpc>
                <a:spcPts val="4017"/>
              </a:lnSpc>
              <a:buFont typeface="Arial"/>
              <a:buChar char="•"/>
            </a:pP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onsists of approximately 100 hours of clean, read English speech from 251 speakers. </a:t>
            </a:r>
          </a:p>
          <a:p>
            <a:pPr algn="l" marL="723358" indent="-361679" lvl="1">
              <a:lnSpc>
                <a:spcPts val="4017"/>
              </a:lnSpc>
              <a:buFont typeface="Arial"/>
              <a:buChar char="•"/>
            </a:pP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ontains .flac audio files and corresponding .trans.txt transcript files. </a:t>
            </a:r>
          </a:p>
          <a:p>
            <a:pPr algn="l" marL="723358" indent="-361679" lvl="1">
              <a:lnSpc>
                <a:spcPts val="4017"/>
              </a:lnSpc>
              <a:buFont typeface="Arial"/>
              <a:buChar char="•"/>
            </a:pP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Each aud</a:t>
            </a: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io sample is assumed to be correctly pronounced, making </a:t>
            </a: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 dataset ideal for modeling clear speech in an unsupervised manner.</a:t>
            </a:r>
          </a:p>
          <a:p>
            <a:pPr algn="l" marL="723358" indent="-361679" lvl="1">
              <a:lnSpc>
                <a:spcPts val="4017"/>
              </a:lnSpc>
              <a:buFont typeface="Arial"/>
              <a:buChar char="•"/>
            </a:pP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oal is to detect deviations from clean speech since no labeled “incorrect” examples are introduced in the dataset using autoencoders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3400" y="8675373"/>
            <a:ext cx="13575031" cy="58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Dataset links Download link for train-clean-100: http://www.openslr.org/resources/12/train-clean-100.tar.gz 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Download link for train-clean-360 (used for unseen evaluation): http://www.openslr.org/resources/12/train-clean-360.tar.gz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1801183"/>
            <a:ext cx="15783409" cy="735917"/>
            <a:chOff x="0" y="0"/>
            <a:chExt cx="21044545" cy="9812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44545" cy="981222"/>
            </a:xfrm>
            <a:custGeom>
              <a:avLst/>
              <a:gdLst/>
              <a:ahLst/>
              <a:cxnLst/>
              <a:rect r="r" b="b" t="t" l="l"/>
              <a:pathLst>
                <a:path h="981222" w="21044545">
                  <a:moveTo>
                    <a:pt x="0" y="0"/>
                  </a:moveTo>
                  <a:lnTo>
                    <a:pt x="21044545" y="0"/>
                  </a:lnTo>
                  <a:lnTo>
                    <a:pt x="21044545" y="981222"/>
                  </a:lnTo>
                  <a:lnTo>
                    <a:pt x="0" y="9812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44545" cy="101932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18"/>
                </a:lnSpc>
              </a:pPr>
              <a:r>
                <a:rPr lang="en-US" sz="3999" b="true">
                  <a:solidFill>
                    <a:srgbClr val="005B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SEP-28k Stuttering Events in Podcasts Dataset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33400" y="2627427"/>
            <a:ext cx="15343537" cy="562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358" indent="-361679" lvl="1">
              <a:lnSpc>
                <a:spcPts val="4017"/>
              </a:lnSpc>
              <a:buFont typeface="Arial"/>
              <a:buChar char="•"/>
            </a:pP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SEP-28k Stuttering Events in Podcasts Dataset, augmented with data from FluencyBank. </a:t>
            </a:r>
          </a:p>
          <a:p>
            <a:pPr algn="l" marL="723358" indent="-361679" lvl="1">
              <a:lnSpc>
                <a:spcPts val="4017"/>
              </a:lnSpc>
              <a:buFont typeface="Arial"/>
              <a:buChar char="•"/>
            </a:pP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combined dataset provides a large and diverse collection of audio clips sourced from real-world podcasts featuring people who stutter. </a:t>
            </a:r>
          </a:p>
          <a:p>
            <a:pPr algn="l" marL="723358" indent="-361679" lvl="1">
              <a:lnSpc>
                <a:spcPts val="4017"/>
              </a:lnSpc>
              <a:buFont typeface="Arial"/>
              <a:buChar char="•"/>
            </a:pP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Total Data: 32,000 3-second audio clips. After cleaning and removing files with poor audio quality, music, or no speech, we obtained a working set of 26,098 usable audio clips. </a:t>
            </a:r>
          </a:p>
          <a:p>
            <a:pPr algn="l" marL="723358" indent="-361679" lvl="1">
              <a:lnSpc>
                <a:spcPts val="4017"/>
              </a:lnSpc>
              <a:buFont typeface="Arial"/>
              <a:buChar char="•"/>
            </a:pP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Data Format: The data is provided as a set of .wav audio files and corresponding CSV files containing metadata and labels. </a:t>
            </a:r>
          </a:p>
          <a:p>
            <a:pPr algn="l" marL="723358" indent="-361679" lvl="1">
              <a:lnSpc>
                <a:spcPts val="4017"/>
              </a:lnSpc>
              <a:buFont typeface="Arial"/>
              <a:buChar char="•"/>
            </a:pP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abels and</a:t>
            </a:r>
            <a:r>
              <a:rPr lang="en-US" sz="33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Classes: Each clip is annotated by multiple raters for the presence of specific disfluencies.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3400" y="8675373"/>
            <a:ext cx="9066609" cy="3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Dataset Download link</a:t>
            </a:r>
            <a:r>
              <a:rPr lang="en-US" sz="2000" u="sng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  <a:hlinkClick r:id="rId5" tooltip="https://www.kaggle.com/datasets/ikrbasak/sep-28k/code"/>
              </a:rPr>
              <a:t> </a:t>
            </a:r>
            <a:r>
              <a:rPr lang="en-US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https://www.kaggle.com/datasets/ikrbasak/sep-28k/code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7" id="7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3359944"/>
            <a:ext cx="9957816" cy="3567112"/>
            <a:chOff x="0" y="0"/>
            <a:chExt cx="13277088" cy="4756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77089" cy="4756150"/>
            </a:xfrm>
            <a:custGeom>
              <a:avLst/>
              <a:gdLst/>
              <a:ahLst/>
              <a:cxnLst/>
              <a:rect r="r" b="b" t="t" l="l"/>
              <a:pathLst>
                <a:path h="4756150" w="13277089">
                  <a:moveTo>
                    <a:pt x="0" y="0"/>
                  </a:moveTo>
                  <a:lnTo>
                    <a:pt x="13277089" y="0"/>
                  </a:lnTo>
                  <a:lnTo>
                    <a:pt x="13277089" y="4756150"/>
                  </a:lnTo>
                  <a:lnTo>
                    <a:pt x="0" y="4756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13277088" cy="47371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7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PreProcessing Pipeline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1407404"/>
            <a:ext cx="15783409" cy="914972"/>
            <a:chOff x="0" y="0"/>
            <a:chExt cx="21044545" cy="12199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44545" cy="1219963"/>
            </a:xfrm>
            <a:custGeom>
              <a:avLst/>
              <a:gdLst/>
              <a:ahLst/>
              <a:cxnLst/>
              <a:rect r="r" b="b" t="t" l="l"/>
              <a:pathLst>
                <a:path h="1219963" w="21044545">
                  <a:moveTo>
                    <a:pt x="0" y="0"/>
                  </a:moveTo>
                  <a:lnTo>
                    <a:pt x="21044545" y="0"/>
                  </a:lnTo>
                  <a:lnTo>
                    <a:pt x="21044545" y="1219963"/>
                  </a:lnTo>
                  <a:lnTo>
                    <a:pt x="0" y="1219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44545" cy="125806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999" b="true">
                  <a:solidFill>
                    <a:srgbClr val="005B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Acquisition &amp; Processing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33400" y="2255701"/>
            <a:ext cx="15343537" cy="783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836"/>
              </a:lnSpc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eveloped 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 a Google Colab environment. </a:t>
            </a:r>
          </a:p>
          <a:p>
            <a:pPr algn="l" marL="690881" indent="-345440" lvl="1">
              <a:lnSpc>
                <a:spcPts val="3836"/>
              </a:lnSpc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Data Acquisition: Dataset downloaded using t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he K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aggle API. </a:t>
            </a:r>
          </a:p>
          <a:p>
            <a:pPr algn="l" marL="690881" indent="-345440" lvl="1">
              <a:lnSpc>
                <a:spcPts val="3836"/>
              </a:lnSpc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Data Clea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ning: Combined 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label fi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es from SEP-28k an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FluencyBank. Constructed the full file path for each audio cli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</a:p>
          <a:p>
            <a:pPr algn="l" marL="690881" indent="-345440" lvl="1">
              <a:lnSpc>
                <a:spcPts val="3836"/>
              </a:lnSpc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Concatenated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the Show, EpId, and ClipId 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ields f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rom the metad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ta. </a:t>
            </a:r>
          </a:p>
          <a:p>
            <a:pPr algn="l" marL="690881" indent="-345440" lvl="1">
              <a:lnSpc>
                <a:spcPts val="3836"/>
              </a:lnSpc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Filtered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out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any entries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which the corresponding .wav file did not exi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 on d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isk. </a:t>
            </a:r>
          </a:p>
          <a:p>
            <a:pPr algn="l" marL="690881" indent="-345440" lvl="1">
              <a:lnSpc>
                <a:spcPts val="3836"/>
              </a:lnSpc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Label Processing: Da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taset provides counts from multiple annotators for each label. </a:t>
            </a:r>
          </a:p>
          <a:p>
            <a:pPr algn="l" marL="690881" indent="-345440" lvl="1">
              <a:lnSpc>
                <a:spcPts val="3836"/>
              </a:lnSpc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Selected the class with the highest annotator count for each clip (idxmax function). </a:t>
            </a:r>
          </a:p>
          <a:p>
            <a:pPr algn="l" marL="690881" indent="-345440" lvl="1">
              <a:lnSpc>
                <a:spcPts val="3836"/>
              </a:lnSpc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Handling Class Imbalance: Significant class imbalance, with NoStutteredWords being the dominant class. Implemented a weighted loss function. The sklearn.utils.class_weight.compute_class_weight function was used to calculate weights that give higher importance to minority classes (like Block and SoundRep) during training, preventing the model from simply defaulting to the majority class.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1407404"/>
            <a:ext cx="15783409" cy="914972"/>
            <a:chOff x="0" y="0"/>
            <a:chExt cx="21044545" cy="12199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44545" cy="1219963"/>
            </a:xfrm>
            <a:custGeom>
              <a:avLst/>
              <a:gdLst/>
              <a:ahLst/>
              <a:cxnLst/>
              <a:rect r="r" b="b" t="t" l="l"/>
              <a:pathLst>
                <a:path h="1219963" w="21044545">
                  <a:moveTo>
                    <a:pt x="0" y="0"/>
                  </a:moveTo>
                  <a:lnTo>
                    <a:pt x="21044545" y="0"/>
                  </a:lnTo>
                  <a:lnTo>
                    <a:pt x="21044545" y="1219963"/>
                  </a:lnTo>
                  <a:lnTo>
                    <a:pt x="0" y="1219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44545" cy="125806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999" b="true">
                  <a:solidFill>
                    <a:srgbClr val="005B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Audio Loading &amp; Resampling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33400" y="2255701"/>
            <a:ext cx="15343537" cy="395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836"/>
              </a:lnSpc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ud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io 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iles are 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ed using tor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ud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io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 marL="690881" indent="-345440" lvl="1">
              <a:lnSpc>
                <a:spcPts val="3836"/>
              </a:lnSpc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au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io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sa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16 kH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z is resa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mp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 to 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16,000 Hz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con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tency.</a:t>
            </a:r>
          </a:p>
          <a:p>
            <a:pPr algn="l" marL="690881" indent="-345440" lvl="1">
              <a:lnSpc>
                <a:spcPts val="3836"/>
              </a:lnSpc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We extract Mel-Frequency Cepstral Coefficients (MFCCs), which capture the short-term power spectrum of the audio.</a:t>
            </a:r>
          </a:p>
          <a:p>
            <a:pPr algn="l" marL="690881" indent="-345440" lvl="1">
              <a:lnSpc>
                <a:spcPts val="3836"/>
              </a:lnSpc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MFCCs mimic how the human ear perceives sound, focusing on perceptually relevant frequencies.</a:t>
            </a:r>
          </a:p>
          <a:p>
            <a:pPr algn="l" marL="690881" indent="-345440" lvl="1">
              <a:lnSpc>
                <a:spcPts val="3836"/>
              </a:lnSpc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They are effective for modeling phoneme-level information while reducing noise and irrelevant variations.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7" id="7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3359944"/>
            <a:ext cx="9957816" cy="3567112"/>
            <a:chOff x="0" y="0"/>
            <a:chExt cx="13277088" cy="4756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77089" cy="4756150"/>
            </a:xfrm>
            <a:custGeom>
              <a:avLst/>
              <a:gdLst/>
              <a:ahLst/>
              <a:cxnLst/>
              <a:rect r="r" b="b" t="t" l="l"/>
              <a:pathLst>
                <a:path h="4756150" w="13277089">
                  <a:moveTo>
                    <a:pt x="0" y="0"/>
                  </a:moveTo>
                  <a:lnTo>
                    <a:pt x="13277089" y="0"/>
                  </a:lnTo>
                  <a:lnTo>
                    <a:pt x="13277089" y="4756150"/>
                  </a:lnTo>
                  <a:lnTo>
                    <a:pt x="0" y="4756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13277088" cy="472757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694"/>
                </a:lnSpc>
              </a:pPr>
              <a:r>
                <a:rPr lang="en-US" sz="9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Setup &amp; </a:t>
              </a:r>
            </a:p>
            <a:p>
              <a:pPr algn="l">
                <a:lnSpc>
                  <a:spcPts val="87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Workflow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1407404"/>
            <a:ext cx="15783409" cy="914972"/>
            <a:chOff x="0" y="0"/>
            <a:chExt cx="21044545" cy="12199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44545" cy="1219963"/>
            </a:xfrm>
            <a:custGeom>
              <a:avLst/>
              <a:gdLst/>
              <a:ahLst/>
              <a:cxnLst/>
              <a:rect r="r" b="b" t="t" l="l"/>
              <a:pathLst>
                <a:path h="1219963" w="21044545">
                  <a:moveTo>
                    <a:pt x="0" y="0"/>
                  </a:moveTo>
                  <a:lnTo>
                    <a:pt x="21044545" y="0"/>
                  </a:lnTo>
                  <a:lnTo>
                    <a:pt x="21044545" y="1219963"/>
                  </a:lnTo>
                  <a:lnTo>
                    <a:pt x="0" y="1219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44545" cy="125806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999" b="true">
                  <a:solidFill>
                    <a:srgbClr val="005B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Conv1D Autoencoder Overview - Classify clear and faulty speech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99281" y="2417626"/>
            <a:ext cx="7650138" cy="7312809"/>
          </a:xfrm>
          <a:custGeom>
            <a:avLst/>
            <a:gdLst/>
            <a:ahLst/>
            <a:cxnLst/>
            <a:rect r="r" b="b" t="t" l="l"/>
            <a:pathLst>
              <a:path h="7312809" w="7650138">
                <a:moveTo>
                  <a:pt x="0" y="0"/>
                </a:moveTo>
                <a:lnTo>
                  <a:pt x="7650138" y="0"/>
                </a:lnTo>
                <a:lnTo>
                  <a:pt x="7650138" y="7312809"/>
                </a:lnTo>
                <a:lnTo>
                  <a:pt x="0" y="7312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06688" y="2389051"/>
            <a:ext cx="9463312" cy="662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Takes MFCC input of shape [batch, 13, 128],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where 13 = MFCC features and 128 = time steps.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Encoder compresses the input through 3 Conv1D layers: 13 → 64 → 32 → 16 channels, using ReLU activations, BatchNorm, and Dropout.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Decoder mirrors the encoder using ConvTranspose1D layers: 16 → 32 → 64 → 13 channels, restoring the input shape.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Maintains temporal resolution (128 frames) throughout the network via padding=1.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Lightweight architecture with just ~20k trainable parameters ideal for fast training and real-time inference.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1407404"/>
            <a:ext cx="15783409" cy="914972"/>
            <a:chOff x="0" y="0"/>
            <a:chExt cx="21044545" cy="12199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44545" cy="1219963"/>
            </a:xfrm>
            <a:custGeom>
              <a:avLst/>
              <a:gdLst/>
              <a:ahLst/>
              <a:cxnLst/>
              <a:rect r="r" b="b" t="t" l="l"/>
              <a:pathLst>
                <a:path h="1219963" w="21044545">
                  <a:moveTo>
                    <a:pt x="0" y="0"/>
                  </a:moveTo>
                  <a:lnTo>
                    <a:pt x="21044545" y="0"/>
                  </a:lnTo>
                  <a:lnTo>
                    <a:pt x="21044545" y="1219963"/>
                  </a:lnTo>
                  <a:lnTo>
                    <a:pt x="0" y="1219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44545" cy="125806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999" b="true">
                  <a:solidFill>
                    <a:srgbClr val="005B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Conv1D Autoencoder Overview - Evaluation &amp; Thresholding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06354" y="2265287"/>
            <a:ext cx="8204476" cy="5425302"/>
          </a:xfrm>
          <a:custGeom>
            <a:avLst/>
            <a:gdLst/>
            <a:ahLst/>
            <a:cxnLst/>
            <a:rect r="r" b="b" t="t" l="l"/>
            <a:pathLst>
              <a:path h="5425302" w="8204476">
                <a:moveTo>
                  <a:pt x="0" y="0"/>
                </a:moveTo>
                <a:lnTo>
                  <a:pt x="8204475" y="0"/>
                </a:lnTo>
                <a:lnTo>
                  <a:pt x="8204475" y="5425302"/>
                </a:lnTo>
                <a:lnTo>
                  <a:pt x="0" y="5425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06688" y="5082713"/>
            <a:ext cx="9463312" cy="4029432"/>
          </a:xfrm>
          <a:custGeom>
            <a:avLst/>
            <a:gdLst/>
            <a:ahLst/>
            <a:cxnLst/>
            <a:rect r="r" b="b" t="t" l="l"/>
            <a:pathLst>
              <a:path h="4029432" w="9463312">
                <a:moveTo>
                  <a:pt x="0" y="0"/>
                </a:moveTo>
                <a:lnTo>
                  <a:pt x="9463312" y="0"/>
                </a:lnTo>
                <a:lnTo>
                  <a:pt x="9463312" y="4029432"/>
                </a:lnTo>
                <a:lnTo>
                  <a:pt x="0" y="4029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606688" y="2389051"/>
            <a:ext cx="9463312" cy="2531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fter tra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nin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g,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er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ors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put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ed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ac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ros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he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ation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ata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yna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mi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th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 se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ase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on the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rce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nti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le of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t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t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ining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re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con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tion 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ro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rs, ens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rin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t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o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cle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eech s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mpl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ar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lass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 as "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lea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." Sampl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 ab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ov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 t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hi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thr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sho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f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ed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"f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lt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y or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onou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nce</a:t>
            </a: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1407404"/>
            <a:ext cx="15783409" cy="914972"/>
            <a:chOff x="0" y="0"/>
            <a:chExt cx="21044545" cy="12199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44545" cy="1219963"/>
            </a:xfrm>
            <a:custGeom>
              <a:avLst/>
              <a:gdLst/>
              <a:ahLst/>
              <a:cxnLst/>
              <a:rect r="r" b="b" t="t" l="l"/>
              <a:pathLst>
                <a:path h="1219963" w="21044545">
                  <a:moveTo>
                    <a:pt x="0" y="0"/>
                  </a:moveTo>
                  <a:lnTo>
                    <a:pt x="21044545" y="0"/>
                  </a:lnTo>
                  <a:lnTo>
                    <a:pt x="21044545" y="1219963"/>
                  </a:lnTo>
                  <a:lnTo>
                    <a:pt x="0" y="1219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44545" cy="125806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999" b="true">
                  <a:solidFill>
                    <a:srgbClr val="005B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Conv1D Autoencoder Overview - Evaluation &amp; Thresholding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42925" y="2322376"/>
            <a:ext cx="6389996" cy="7535156"/>
          </a:xfrm>
          <a:custGeom>
            <a:avLst/>
            <a:gdLst/>
            <a:ahLst/>
            <a:cxnLst/>
            <a:rect r="r" b="b" t="t" l="l"/>
            <a:pathLst>
              <a:path h="7535156" w="6389996">
                <a:moveTo>
                  <a:pt x="0" y="0"/>
                </a:moveTo>
                <a:lnTo>
                  <a:pt x="6389996" y="0"/>
                </a:lnTo>
                <a:lnTo>
                  <a:pt x="6389996" y="7535156"/>
                </a:lnTo>
                <a:lnTo>
                  <a:pt x="0" y="7535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932921" y="3041259"/>
            <a:ext cx="10326379" cy="498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Evaluation on Unseen Clean Speech:</a:t>
            </a:r>
          </a:p>
          <a:p>
            <a:pPr algn="l" marL="647702" indent="-323851" lvl="1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Tested on LibriSpeech train-clean-360 (unseen set).</a:t>
            </a:r>
          </a:p>
          <a:p>
            <a:pPr algn="l" marL="647702" indent="-323851" lvl="1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All samples classified as “clear” with errors below threshold, confirming generalization.</a:t>
            </a:r>
          </a:p>
          <a:p>
            <a:pPr algn="l">
              <a:lnSpc>
                <a:spcPts val="3240"/>
              </a:lnSpc>
            </a:pPr>
          </a:p>
          <a:p>
            <a:pPr algn="l" marL="647702" indent="-323851" lvl="1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Evaluation on Synthetic Faulty Speech:</a:t>
            </a:r>
          </a:p>
          <a:p>
            <a:pPr algn="l" marL="647702" indent="-323851" lvl="1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Introduced noise, pitch, speed, and volume distortions to simulate real-world faults.</a:t>
            </a:r>
          </a:p>
          <a:p>
            <a:pPr algn="l" marL="647702" indent="-323851" lvl="1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Model reported high reconstruction errors and flagged most samples as “faulty”.</a:t>
            </a:r>
          </a:p>
          <a:p>
            <a:pPr algn="l" marL="647702" indent="-323851" lvl="1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Demonstrated strong sensitivity to speech degradation, validating use in speech therapy/assessment.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7" id="7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3359944"/>
            <a:ext cx="9957816" cy="3878580"/>
            <a:chOff x="0" y="0"/>
            <a:chExt cx="13277088" cy="5171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77089" cy="5171440"/>
            </a:xfrm>
            <a:custGeom>
              <a:avLst/>
              <a:gdLst/>
              <a:ahLst/>
              <a:cxnLst/>
              <a:rect r="r" b="b" t="t" l="l"/>
              <a:pathLst>
                <a:path h="5171440" w="13277089">
                  <a:moveTo>
                    <a:pt x="0" y="0"/>
                  </a:moveTo>
                  <a:lnTo>
                    <a:pt x="13277089" y="0"/>
                  </a:lnTo>
                  <a:lnTo>
                    <a:pt x="13277089" y="5171440"/>
                  </a:lnTo>
                  <a:lnTo>
                    <a:pt x="0" y="51714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13277088" cy="515239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7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 performance comparisons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1407404"/>
            <a:ext cx="15783409" cy="914972"/>
            <a:chOff x="0" y="0"/>
            <a:chExt cx="21044545" cy="12199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44545" cy="1219963"/>
            </a:xfrm>
            <a:custGeom>
              <a:avLst/>
              <a:gdLst/>
              <a:ahLst/>
              <a:cxnLst/>
              <a:rect r="r" b="b" t="t" l="l"/>
              <a:pathLst>
                <a:path h="1219963" w="21044545">
                  <a:moveTo>
                    <a:pt x="0" y="0"/>
                  </a:moveTo>
                  <a:lnTo>
                    <a:pt x="21044545" y="0"/>
                  </a:lnTo>
                  <a:lnTo>
                    <a:pt x="21044545" y="1219963"/>
                  </a:lnTo>
                  <a:lnTo>
                    <a:pt x="0" y="1219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44545" cy="125806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999" b="true">
                  <a:solidFill>
                    <a:srgbClr val="005B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Multiclass classification of stuttering speech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33400" y="2493491"/>
            <a:ext cx="11684449" cy="654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ResNet</a:t>
            </a:r>
          </a:p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Test Accuracy: 31.75%</a:t>
            </a:r>
          </a:p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Performed well compared to random guessing.</a:t>
            </a:r>
          </a:p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Successfully began learning features for Interjection and Word Repetition.</a:t>
            </a:r>
          </a:p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Demonstrated the benefit of transfer learning using pretrained image features.</a:t>
            </a:r>
          </a:p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Training-validation curves showed clear overfitting.</a:t>
            </a:r>
          </a:p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Struggled to generalize due to class imbalance in the dataset.</a:t>
            </a:r>
          </a:p>
          <a:p>
            <a:pPr algn="l">
              <a:lnSpc>
                <a:spcPts val="3023"/>
              </a:lnSpc>
              <a:spcBef>
                <a:spcPct val="0"/>
              </a:spcBef>
            </a:pPr>
          </a:p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CRNN (ResNet18 + BiLSTM)</a:t>
            </a:r>
          </a:p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Test Accuracy: 11.50%</a:t>
            </a:r>
          </a:p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Underperformed compared to ResNet and even random guessing.</a:t>
            </a:r>
          </a:p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CRNN architecture is data-intensive and needs longer training to be effective.</a:t>
            </a:r>
          </a:p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Failed to learn temporal speech patterns within 3 epochs.</a:t>
            </a:r>
          </a:p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Did not converge properly on the small training subset.</a:t>
            </a:r>
          </a:p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Highlighted the risk of using complex models with limited data and time.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431853" y="2133222"/>
            <a:ext cx="5388599" cy="3309019"/>
          </a:xfrm>
          <a:custGeom>
            <a:avLst/>
            <a:gdLst/>
            <a:ahLst/>
            <a:cxnLst/>
            <a:rect r="r" b="b" t="t" l="l"/>
            <a:pathLst>
              <a:path h="3309019" w="5388599">
                <a:moveTo>
                  <a:pt x="0" y="0"/>
                </a:moveTo>
                <a:lnTo>
                  <a:pt x="5388600" y="0"/>
                </a:lnTo>
                <a:lnTo>
                  <a:pt x="5388600" y="3309019"/>
                </a:lnTo>
                <a:lnTo>
                  <a:pt x="0" y="3309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422328" y="5766091"/>
            <a:ext cx="5379074" cy="3395808"/>
          </a:xfrm>
          <a:custGeom>
            <a:avLst/>
            <a:gdLst/>
            <a:ahLst/>
            <a:cxnLst/>
            <a:rect r="r" b="b" t="t" l="l"/>
            <a:pathLst>
              <a:path h="3395808" w="5379074">
                <a:moveTo>
                  <a:pt x="0" y="0"/>
                </a:moveTo>
                <a:lnTo>
                  <a:pt x="5379075" y="0"/>
                </a:lnTo>
                <a:lnTo>
                  <a:pt x="5379075" y="3395808"/>
                </a:lnTo>
                <a:lnTo>
                  <a:pt x="0" y="33958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1407404"/>
            <a:ext cx="15783409" cy="914972"/>
            <a:chOff x="0" y="0"/>
            <a:chExt cx="21044545" cy="12199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44545" cy="1219963"/>
            </a:xfrm>
            <a:custGeom>
              <a:avLst/>
              <a:gdLst/>
              <a:ahLst/>
              <a:cxnLst/>
              <a:rect r="r" b="b" t="t" l="l"/>
              <a:pathLst>
                <a:path h="1219963" w="21044545">
                  <a:moveTo>
                    <a:pt x="0" y="0"/>
                  </a:moveTo>
                  <a:lnTo>
                    <a:pt x="21044545" y="0"/>
                  </a:lnTo>
                  <a:lnTo>
                    <a:pt x="21044545" y="1219963"/>
                  </a:lnTo>
                  <a:lnTo>
                    <a:pt x="0" y="1219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44545" cy="125806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999" b="true">
                  <a:solidFill>
                    <a:srgbClr val="005B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Multiclass classification of stuttering speech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33400" y="2255701"/>
            <a:ext cx="11684449" cy="817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  <a:spcBef>
                <a:spcPct val="0"/>
              </a:spcBef>
            </a:pP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CN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 with Attention Mechanism</a:t>
            </a:r>
          </a:p>
          <a:p>
            <a:pPr algn="l" marL="561341" indent="-280670" lvl="1">
              <a:lnSpc>
                <a:spcPts val="280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Test Accuracy: 59.35%</a:t>
            </a:r>
          </a:p>
          <a:p>
            <a:pPr algn="l" marL="561341" indent="-280670" lvl="1">
              <a:lnSpc>
                <a:spcPts val="280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inal F1 Score: 0.6480 (on class 1), indicating decent performance in detecting disfluent speech.</a:t>
            </a:r>
          </a:p>
          <a:p>
            <a:pPr algn="l" marL="561341" indent="-280670" lvl="1">
              <a:lnSpc>
                <a:spcPts val="280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validation F1 Score: 0.694, achieved at epoch 5.</a:t>
            </a:r>
          </a:p>
          <a:p>
            <a:pPr algn="l" marL="561341" indent="-280670" lvl="1">
              <a:lnSpc>
                <a:spcPts val="280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Validation accuracy peaked at 65.34%, showing strong generalization with early stopping.</a:t>
            </a:r>
          </a:p>
          <a:p>
            <a:pPr algn="l" marL="561341" indent="-280670" lvl="1">
              <a:lnSpc>
                <a:spcPts val="280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Attention mechanism allowed the model to focus on time frames carrying disfluency cues.</a:t>
            </a:r>
          </a:p>
          <a:p>
            <a:pPr algn="l" marL="561341" indent="-280670" lvl="1">
              <a:lnSpc>
                <a:spcPts val="280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Recall for class 1 (faulty) was high at 0.7429, but class 0 (clear) suffered with only 0.4420 recall.</a:t>
            </a:r>
          </a:p>
          <a:p>
            <a:pPr algn="l">
              <a:lnSpc>
                <a:spcPts val="2808"/>
              </a:lnSpc>
              <a:spcBef>
                <a:spcPct val="0"/>
              </a:spcBef>
            </a:pPr>
          </a:p>
          <a:p>
            <a:pPr algn="l">
              <a:lnSpc>
                <a:spcPts val="2808"/>
              </a:lnSpc>
              <a:spcBef>
                <a:spcPct val="0"/>
              </a:spcBef>
            </a:pP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onv1D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Auto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ncod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 (wi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fier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algn="l" marL="561341" indent="-280670" lvl="1">
              <a:lnSpc>
                <a:spcPts val="280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Test Accuracy: 5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5.76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  <a:p>
            <a:pPr algn="l" marL="561341" indent="-280670" lvl="1">
              <a:lnSpc>
                <a:spcPts val="280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 F1 Sco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0.6702 (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ss 1), in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icating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ng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of f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ulty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ch.</a:t>
            </a:r>
          </a:p>
          <a:p>
            <a:pPr algn="l" marL="561341" indent="-280670" lvl="1">
              <a:lnSpc>
                <a:spcPts val="280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Pret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ra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ning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loss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ly d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ecre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ased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from 32.45 to 4.78, conf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rming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soli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fe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at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ure le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rn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 from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cle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ch.</a:t>
            </a:r>
          </a:p>
          <a:p>
            <a:pPr algn="l" marL="561341" indent="-280670" lvl="1">
              <a:lnSpc>
                <a:spcPts val="280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assifi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er training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wed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consist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nt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improv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 F1 scor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(from 0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516 to 0.651 on tr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n, an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up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0.702 on va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algn="l" marL="561341" indent="-280670" lvl="1">
              <a:lnSpc>
                <a:spcPts val="2808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Excellent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re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cal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 on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posi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iv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ass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(0.8929), bu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poo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rec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ll o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ative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cla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ss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(0.2174), l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ading 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 imbalance</a:t>
            </a:r>
            <a:r>
              <a:rPr lang="en-US" sz="2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2808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256318" y="6342353"/>
            <a:ext cx="5841182" cy="2751360"/>
          </a:xfrm>
          <a:custGeom>
            <a:avLst/>
            <a:gdLst/>
            <a:ahLst/>
            <a:cxnLst/>
            <a:rect r="r" b="b" t="t" l="l"/>
            <a:pathLst>
              <a:path h="2751360" w="5841182">
                <a:moveTo>
                  <a:pt x="0" y="0"/>
                </a:moveTo>
                <a:lnTo>
                  <a:pt x="5841182" y="0"/>
                </a:lnTo>
                <a:lnTo>
                  <a:pt x="5841182" y="2751361"/>
                </a:lnTo>
                <a:lnTo>
                  <a:pt x="0" y="2751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246608" y="2284276"/>
            <a:ext cx="5879651" cy="2534160"/>
          </a:xfrm>
          <a:custGeom>
            <a:avLst/>
            <a:gdLst/>
            <a:ahLst/>
            <a:cxnLst/>
            <a:rect r="r" b="b" t="t" l="l"/>
            <a:pathLst>
              <a:path h="2534160" w="5879651">
                <a:moveTo>
                  <a:pt x="0" y="0"/>
                </a:moveTo>
                <a:lnTo>
                  <a:pt x="5879652" y="0"/>
                </a:lnTo>
                <a:lnTo>
                  <a:pt x="5879652" y="2534160"/>
                </a:lnTo>
                <a:lnTo>
                  <a:pt x="0" y="25341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7" id="7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3359944"/>
            <a:ext cx="9957816" cy="3567112"/>
            <a:chOff x="0" y="0"/>
            <a:chExt cx="13277088" cy="4756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77089" cy="4756150"/>
            </a:xfrm>
            <a:custGeom>
              <a:avLst/>
              <a:gdLst/>
              <a:ahLst/>
              <a:cxnLst/>
              <a:rect r="r" b="b" t="t" l="l"/>
              <a:pathLst>
                <a:path h="4756150" w="13277089">
                  <a:moveTo>
                    <a:pt x="0" y="0"/>
                  </a:moveTo>
                  <a:lnTo>
                    <a:pt x="13277089" y="0"/>
                  </a:lnTo>
                  <a:lnTo>
                    <a:pt x="13277089" y="4756150"/>
                  </a:lnTo>
                  <a:lnTo>
                    <a:pt x="0" y="4756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13277088" cy="47371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7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LLM based feedback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1407404"/>
            <a:ext cx="15783409" cy="914972"/>
            <a:chOff x="0" y="0"/>
            <a:chExt cx="21044545" cy="12199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44545" cy="1219963"/>
            </a:xfrm>
            <a:custGeom>
              <a:avLst/>
              <a:gdLst/>
              <a:ahLst/>
              <a:cxnLst/>
              <a:rect r="r" b="b" t="t" l="l"/>
              <a:pathLst>
                <a:path h="1219963" w="21044545">
                  <a:moveTo>
                    <a:pt x="0" y="0"/>
                  </a:moveTo>
                  <a:lnTo>
                    <a:pt x="21044545" y="0"/>
                  </a:lnTo>
                  <a:lnTo>
                    <a:pt x="21044545" y="1219963"/>
                  </a:lnTo>
                  <a:lnTo>
                    <a:pt x="0" y="1219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44545" cy="125806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999" b="true">
                  <a:solidFill>
                    <a:srgbClr val="005B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LLM based feedback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35289" y="2890311"/>
            <a:ext cx="15417423" cy="6147697"/>
          </a:xfrm>
          <a:custGeom>
            <a:avLst/>
            <a:gdLst/>
            <a:ahLst/>
            <a:cxnLst/>
            <a:rect r="r" b="b" t="t" l="l"/>
            <a:pathLst>
              <a:path h="6147697" w="15417423">
                <a:moveTo>
                  <a:pt x="0" y="0"/>
                </a:moveTo>
                <a:lnTo>
                  <a:pt x="15417422" y="0"/>
                </a:lnTo>
                <a:lnTo>
                  <a:pt x="15417422" y="6147698"/>
                </a:lnTo>
                <a:lnTo>
                  <a:pt x="0" y="6147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7" id="7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631955"/>
            <a:ext cx="9957816" cy="3567112"/>
            <a:chOff x="0" y="0"/>
            <a:chExt cx="13277088" cy="4756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77089" cy="4756150"/>
            </a:xfrm>
            <a:custGeom>
              <a:avLst/>
              <a:gdLst/>
              <a:ahLst/>
              <a:cxnLst/>
              <a:rect r="r" b="b" t="t" l="l"/>
              <a:pathLst>
                <a:path h="4756150" w="13277089">
                  <a:moveTo>
                    <a:pt x="0" y="0"/>
                  </a:moveTo>
                  <a:lnTo>
                    <a:pt x="13277089" y="0"/>
                  </a:lnTo>
                  <a:lnTo>
                    <a:pt x="13277089" y="4756150"/>
                  </a:lnTo>
                  <a:lnTo>
                    <a:pt x="0" y="4756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13277088" cy="47371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7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3400" y="481719"/>
            <a:ext cx="7200900" cy="534044"/>
            <a:chOff x="0" y="0"/>
            <a:chExt cx="9601200" cy="712059"/>
          </a:xfrm>
        </p:grpSpPr>
        <p:sp>
          <p:nvSpPr>
            <p:cNvPr name="Freeform 5" id="5" descr="University at Buffalo, The State University of New York logo"/>
            <p:cNvSpPr/>
            <p:nvPr/>
          </p:nvSpPr>
          <p:spPr>
            <a:xfrm flipH="false" flipV="false" rot="0">
              <a:off x="0" y="0"/>
              <a:ext cx="9601200" cy="712089"/>
            </a:xfrm>
            <a:custGeom>
              <a:avLst/>
              <a:gdLst/>
              <a:ahLst/>
              <a:cxnLst/>
              <a:rect r="r" b="b" t="t" l="l"/>
              <a:pathLst>
                <a:path h="71208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12089"/>
                  </a:lnTo>
                  <a:lnTo>
                    <a:pt x="0" y="71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33400" y="2167073"/>
            <a:ext cx="15408832" cy="7091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303" indent="-370152" lvl="1">
              <a:lnSpc>
                <a:spcPts val="3703"/>
              </a:lnSpc>
              <a:buFont typeface="Arial"/>
              <a:buChar char="•"/>
            </a:pPr>
            <a:r>
              <a:rPr lang="en-US" sz="342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Built a multi-stage pipeline for stuttering detection using clean and faulty speech data.</a:t>
            </a:r>
          </a:p>
          <a:p>
            <a:pPr algn="l" marL="740303" indent="-370152" lvl="1">
              <a:lnSpc>
                <a:spcPts val="3703"/>
              </a:lnSpc>
              <a:buFont typeface="Arial"/>
              <a:buChar char="•"/>
            </a:pPr>
            <a:r>
              <a:rPr lang="en-US" sz="342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Explored traditional and advanced models including CNN, ResNet, CRNN, Transformer, and Autoencoders.</a:t>
            </a:r>
          </a:p>
          <a:p>
            <a:pPr algn="l" marL="740303" indent="-370152" lvl="1">
              <a:lnSpc>
                <a:spcPts val="3703"/>
              </a:lnSpc>
              <a:buFont typeface="Arial"/>
              <a:buChar char="•"/>
            </a:pPr>
            <a:r>
              <a:rPr lang="en-US" sz="342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Demonstrated that deeper models need larger datasets and longer training to realize their potential.</a:t>
            </a:r>
          </a:p>
          <a:p>
            <a:pPr algn="l" marL="740303" indent="-370152" lvl="1">
              <a:lnSpc>
                <a:spcPts val="3703"/>
              </a:lnSpc>
              <a:buFont typeface="Arial"/>
              <a:buChar char="•"/>
            </a:pPr>
            <a:r>
              <a:rPr lang="en-US" sz="342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Highlighted class imbalance as a critical challenge affecting model performance</a:t>
            </a:r>
          </a:p>
          <a:p>
            <a:pPr algn="l" marL="740303" indent="-370152" lvl="1">
              <a:lnSpc>
                <a:spcPts val="3703"/>
              </a:lnSpc>
              <a:buFont typeface="Arial"/>
              <a:buChar char="•"/>
            </a:pPr>
            <a:r>
              <a:rPr lang="en-US" sz="342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 future, focus can be put on detecting more speech disorders such as </a:t>
            </a:r>
          </a:p>
          <a:p>
            <a:pPr algn="l" marL="1480607" indent="-493536" lvl="2">
              <a:lnSpc>
                <a:spcPts val="3703"/>
              </a:lnSpc>
              <a:buFont typeface="Arial"/>
              <a:buChar char="⚬"/>
            </a:pPr>
            <a:r>
              <a:rPr lang="en-US" sz="342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DYSPHONIA</a:t>
            </a:r>
          </a:p>
          <a:p>
            <a:pPr algn="l" marL="1480607" indent="-493536" lvl="2">
              <a:lnSpc>
                <a:spcPts val="3703"/>
              </a:lnSpc>
              <a:buFont typeface="Arial"/>
              <a:buChar char="⚬"/>
            </a:pPr>
            <a:r>
              <a:rPr lang="en-US" sz="342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APRAXIA</a:t>
            </a:r>
          </a:p>
          <a:p>
            <a:pPr algn="l" marL="1480607" indent="-493536" lvl="2">
              <a:lnSpc>
                <a:spcPts val="3703"/>
              </a:lnSpc>
              <a:buFont typeface="Arial"/>
              <a:buChar char="⚬"/>
            </a:pPr>
            <a:r>
              <a:rPr lang="en-US" sz="342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DYSARTHRIA</a:t>
            </a:r>
          </a:p>
          <a:p>
            <a:pPr algn="l" marL="1480607" indent="-493536" lvl="2">
              <a:lnSpc>
                <a:spcPts val="3703"/>
              </a:lnSpc>
              <a:buFont typeface="Arial"/>
              <a:buChar char="⚬"/>
            </a:pPr>
            <a:r>
              <a:rPr lang="en-US" sz="342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TBI</a:t>
            </a:r>
          </a:p>
          <a:p>
            <a:pPr algn="l" marL="1480607" indent="-493536" lvl="2">
              <a:lnSpc>
                <a:spcPts val="3703"/>
              </a:lnSpc>
              <a:buFont typeface="Arial"/>
              <a:buChar char="⚬"/>
            </a:pPr>
            <a:r>
              <a:rPr lang="en-US" sz="342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DEMENTIA</a:t>
            </a:r>
          </a:p>
          <a:p>
            <a:pPr algn="l" marL="1480607" indent="-493536" lvl="2">
              <a:lnSpc>
                <a:spcPts val="3703"/>
              </a:lnSpc>
              <a:buFont typeface="Arial"/>
              <a:buChar char="⚬"/>
            </a:pPr>
            <a:r>
              <a:rPr lang="en-US" sz="3428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DYSPHAGIA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DAGsgZuq54g</dc:identifier>
  <dcterms:modified xsi:type="dcterms:W3CDTF">2011-08-01T06:04:30Z</dcterms:modified>
  <cp:revision>1</cp:revision>
  <dc:title>Deep spech</dc:title>
</cp:coreProperties>
</file>